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ha K S" userId="7daa80cc5f9b6ab8" providerId="LiveId" clId="{49EFADFD-60E9-4590-BC9D-8B53FFFA0F5D}"/>
    <pc:docChg chg="undo redo custSel modSld">
      <pc:chgData name="Akshatha K S" userId="7daa80cc5f9b6ab8" providerId="LiveId" clId="{49EFADFD-60E9-4590-BC9D-8B53FFFA0F5D}" dt="2026-05-03T07:55:49.874" v="8" actId="113"/>
      <pc:docMkLst>
        <pc:docMk/>
      </pc:docMkLst>
      <pc:sldChg chg="modSp mod">
        <pc:chgData name="Akshatha K S" userId="7daa80cc5f9b6ab8" providerId="LiveId" clId="{49EFADFD-60E9-4590-BC9D-8B53FFFA0F5D}" dt="2026-05-03T07:55:49.874" v="8" actId="113"/>
        <pc:sldMkLst>
          <pc:docMk/>
          <pc:sldMk cId="0" sldId="263"/>
        </pc:sldMkLst>
        <pc:spChg chg="mod">
          <ac:chgData name="Akshatha K S" userId="7daa80cc5f9b6ab8" providerId="LiveId" clId="{49EFADFD-60E9-4590-BC9D-8B53FFFA0F5D}" dt="2026-05-03T07:55:49.874" v="8" actId="113"/>
          <ac:spMkLst>
            <pc:docMk/>
            <pc:sldMk cId="0" sldId="26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66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</a:rPr>
              <a:t>SLIDE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1645920"/>
          </a:xfrm>
          <a:prstGeom prst="rect">
            <a:avLst/>
          </a:prstGeom>
          <a:solidFill>
            <a:srgbClr val="0077A8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3+ Weeks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Average time MSEs spend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identifying applicable standards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1645920"/>
          </a:xfrm>
          <a:prstGeom prst="rect">
            <a:avLst/>
          </a:prstGeom>
          <a:solidFill>
            <a:srgbClr val="0077A8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564+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BIS standards in Building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Materials alone to navigate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51760" cy="1645920"/>
          </a:xfrm>
          <a:prstGeom prst="rect">
            <a:avLst/>
          </a:prstGeom>
          <a:solidFill>
            <a:srgbClr val="0077A8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₹Crores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2194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Compliance penalty risk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</a:rPr>
              <a:t>non-certified products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Micro &amp; Small Enterprises (MSEs) lack in-house expertise to navigate India's sprawling BIS standards ecosystem.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 is slow, error-prone, and costly — the wrong standard = product recall or legal liability.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BIS × Sigma Squad AI Hackathon  |  Track: AI / RAG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</a:rPr>
              <a:t>SLIDE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Solution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What We Built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An end-to-end RAG pipeline: type a product description → get the top-5 relevant BIS standards with rationale, in under 2 seconds.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5740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67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🔍  Hybrid Retrieval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BM25 sparse + FAISS dense retrieval fused with Reciprocal Rank Fusion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057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05740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167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⚡  Cross-Encoder Reranking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4963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ms-marco MiniLM re-ranks top-10 candidates for precision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4290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42900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38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🧠  LLM Rationale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8679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Single batched Groq/Llama call explains why each standard matches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4290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42900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38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🛡️  Zero-API Fallback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8679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Works fully offline — chunk-text rationale when no API key is set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BIS × Sigma Squad AI Hackathon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</a:rPr>
              <a:t>SLIDE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508760" cy="1600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Expansion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</a:rPr>
              <a:t>Groq 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</a:rPr>
              <a:t>3s timeout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83080" y="1965960"/>
            <a:ext cx="21031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1143000"/>
            <a:ext cx="1508760" cy="1600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11887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93392" y="15087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93392" y="2103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</a:rPr>
              <a:t>FAISS + BM25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</a:rPr>
              <a:t>+ Synonyms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02152" y="1965960"/>
            <a:ext cx="21031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1143000"/>
            <a:ext cx="1508760" cy="1600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11887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12464" y="15087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RRF Fusion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 Boost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12464" y="2103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</a:rPr>
              <a:t>Metadata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</a:rPr>
              <a:t>Signals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21224" y="1965960"/>
            <a:ext cx="21031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31536" y="1143000"/>
            <a:ext cx="1508760" cy="1600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1887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31536" y="15087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Rerank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31536" y="2103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</a:rPr>
              <a:t>Local CPU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</a:rPr>
              <a:t>top-10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0296" y="1965960"/>
            <a:ext cx="21031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0608" y="1143000"/>
            <a:ext cx="1508760" cy="1600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11887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50608" y="15087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Rationale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50608" y="2103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</a:rPr>
              <a:t>1 API call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</a:rPr>
              <a:t>or fallback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Where each step runs: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1280160" cy="29260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918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Steps 2-4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331012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100% LOCAL — no network, no API, no rate limits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703320"/>
            <a:ext cx="1280160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03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1 &amp;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37360" y="372160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Optional Groq API — skipped gracefully if unavailable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114800"/>
            <a:ext cx="1280160" cy="29260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inference.py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37360" y="413308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ALL LOCAL — LLM completely disabled for judge evaluation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BIS × Sigma Squad AI Hackathon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</a:rPr>
              <a:t>SLIDE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Chunking &amp; Retrieval Strategy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Chunking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Source: BIS SP 21:2005 PDF — Building Materials summaries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Strategy: One chunk per IS standard (semantic boundary)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564 chunks total — each 100–300 words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71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Metadata enriched: category, grade, cement type, part number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74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Why? Preserves IS number ↔ content association for accurate retrieval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1097280"/>
            <a:ext cx="0" cy="3840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Retrieval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490472"/>
            <a:ext cx="6858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49047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Dense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40680" y="15087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FAISS IndexFlatIP + all-MiniLM-L6-v2 (cosine similarity)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993392"/>
            <a:ext cx="6858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99339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Sparse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40680" y="20116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BM25Okapi with synonym expansion (OPC, PPC, AAC...)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496312"/>
            <a:ext cx="6858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49631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Fusion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0680" y="2514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Reciprocal Rank Fusion k=60 combines both rank lists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999232"/>
            <a:ext cx="6858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99923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Boost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40680" y="3017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Metadata signals add +0.15 per flag match (max +0.30)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502152"/>
            <a:ext cx="6858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50215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Rerank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40680" y="3520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Cross-encoder ms-marco-MiniLM scores top-10 pairs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BIS × Sigma Squad AI Hackathon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</a:rPr>
              <a:t>SLIDE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Demo Highlights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3749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🖥  Streamlit UI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66160" cy="347472"/>
          </a:xfrm>
          <a:prstGeom prst="rect">
            <a:avLst/>
          </a:prstGeom>
          <a:solidFill>
            <a:srgbClr val="162436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4F8"/>
                </a:solidFill>
              </a:rPr>
              <a:t>"We manufacture 33 Grade OPC cement..."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566160" cy="685800"/>
          </a:xfrm>
          <a:prstGeom prst="rect">
            <a:avLst/>
          </a:prstGeom>
          <a:solidFill>
            <a:srgbClr val="162436"/>
          </a:solidFill>
          <a:ln w="12700">
            <a:solidFill>
              <a:srgbClr val="0077A8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20240"/>
            <a:ext cx="457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751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#1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751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269 : 1989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2267712"/>
            <a:ext cx="685800" cy="182880"/>
          </a:xfrm>
          <a:prstGeom prst="rect">
            <a:avLst/>
          </a:prstGeom>
          <a:solidFill>
            <a:srgbClr val="0077A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267712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</a:rPr>
              <a:t>CEMENT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" y="2724912"/>
            <a:ext cx="3566160" cy="685800"/>
          </a:xfrm>
          <a:prstGeom prst="rect">
            <a:avLst/>
          </a:prstGeom>
          <a:solidFill>
            <a:srgbClr val="162436"/>
          </a:solidFill>
          <a:ln w="12700">
            <a:solidFill>
              <a:srgbClr val="0077A8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24912"/>
            <a:ext cx="457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7977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#2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7797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8042 : 1989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3072384"/>
            <a:ext cx="685800" cy="182880"/>
          </a:xfrm>
          <a:prstGeom prst="rect">
            <a:avLst/>
          </a:prstGeom>
          <a:solidFill>
            <a:srgbClr val="0077A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07238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</a:rPr>
              <a:t>CEMENT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2920" y="3529584"/>
            <a:ext cx="3566160" cy="685800"/>
          </a:xfrm>
          <a:prstGeom prst="rect">
            <a:avLst/>
          </a:prstGeom>
          <a:solidFill>
            <a:srgbClr val="162436"/>
          </a:solidFill>
          <a:ln w="12700">
            <a:solidFill>
              <a:srgbClr val="0077A8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529584"/>
            <a:ext cx="457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844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#3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584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8112 : 1989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" y="3877056"/>
            <a:ext cx="685800" cy="182880"/>
          </a:xfrm>
          <a:prstGeom prst="rect">
            <a:avLst/>
          </a:prstGeom>
          <a:solidFill>
            <a:srgbClr val="0077A8">
              <a:alpha val="7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87705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</a:rPr>
              <a:t>CEMENT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434840" y="1051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Key Features Shown in Demo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34840" y="150876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⚡  Sub-2s response from query to 5 results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34840" y="2039112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🏷️  Category tags (CEMENT, CONCRETE, AGGREGATE) on each result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34840" y="2569464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📄  Expandable BIS chunk text with source context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434840" y="3099816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🔢  Rank badges showing retrieval confidence order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34840" y="363016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💬  LLM-generated rationale: 'Why this standard?'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434840" y="41605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🛡️  Graceful no-API fallback with chunk-derived explanation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BIS × Sigma Squad AI Hackathon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</a:rPr>
              <a:t>SLIDE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Evaluation Results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5603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</a:rPr>
              <a:t>100%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Hit Rate @3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Target: &gt;80%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43000"/>
            <a:ext cx="25603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</a:rPr>
              <a:t>1.0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MRR @5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359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Target: &gt;0.7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43000"/>
            <a:ext cx="25603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</a:rPr>
              <a:t>1.52s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Avg Latency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359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Target: &lt;5s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Test Set: 10 queries from public test set  |  All targets exceeded on first run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Before vs After Optimization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1554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(naive pipeline)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(this project)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 @3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42.08s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BM25 + FAISS + RRF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calls/query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(rate limits)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in inference.py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BIS × Sigma Squad AI Hackathon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</a:rPr>
              <a:t>SLIDE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Impact on MSEs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BEFORE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35608"/>
            <a:ext cx="3840480" cy="2377440"/>
          </a:xfrm>
          <a:prstGeom prst="rect">
            <a:avLst/>
          </a:prstGeom>
          <a:solidFill>
            <a:srgbClr val="1A0F0F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</a:rPr>
              <a:t>✕  3+ weeks of manual BIS catalogue search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</a:rPr>
              <a:t>✕  Compliance consultants cost ₹5,000–₹20,000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</a:rPr>
              <a:t>✕  Wrong standard = product recall risk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</a:rPr>
              <a:t>✕  MSEs often skip certification entirely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AFTER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435608"/>
            <a:ext cx="3840480" cy="2377440"/>
          </a:xfrm>
          <a:prstGeom prst="rect">
            <a:avLst/>
          </a:prstGeom>
          <a:solidFill>
            <a:srgbClr val="0A1A0F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554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✓  Top-5 standards in under 2 seconds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2057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✓  Zero cost — free to use, open source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2560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✓  Rationale explains why each standard applies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3063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✓  Any MSE owner can use it — no expertise needed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→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Scalable to all BIS product categories  |  Deployable as a free government portal for MSEs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63 million MSEs in India could benefit from instant, free, accurate standards discovery.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BIS × Sigma Squad AI Hackathon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</a:rPr>
              <a:t>SLIDE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Team &amp; Acknowledgements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Team: </a:t>
            </a:r>
            <a:r>
              <a:rPr lang="en-IN" sz="2000" b="1" i="0" dirty="0" err="1">
                <a:effectLst/>
                <a:latin typeface="Inter"/>
              </a:rPr>
              <a:t>ByteCode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11226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Retrieval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350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FAISS + BM25 + RRF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01568" y="211226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Embeddings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01568" y="2350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all-MiniLM-L6-v2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05740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11226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Reranking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36208" y="2350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ms-marco-MiniLM-L-6-v2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288950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LLM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1272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Llama-3.1-8b via Groq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83464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01568" y="288950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UI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01568" y="31272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Streamlit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83464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36208" y="288950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Language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31272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Python 3.9+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Acknowledgements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Bureau of Indian Standards (BIS) </a:t>
            </a:r>
            <a:r>
              <a:rPr lang="en-US" sz="1100" dirty="0">
                <a:solidFill>
                  <a:srgbClr val="64748B"/>
                </a:solidFill>
              </a:rPr>
              <a:t>for the SP 21:2005 dataset  •  </a:t>
            </a:r>
            <a:r>
              <a:rPr lang="en-US" sz="1100" b="1" dirty="0">
                <a:solidFill>
                  <a:srgbClr val="64748B"/>
                </a:solidFill>
              </a:rPr>
              <a:t>Sigma Squad </a:t>
            </a:r>
            <a:r>
              <a:rPr lang="en-US" sz="1100" dirty="0">
                <a:solidFill>
                  <a:srgbClr val="64748B"/>
                </a:solidFill>
              </a:rPr>
              <a:t>for organizing this hackathon  •  </a:t>
            </a:r>
            <a:r>
              <a:rPr lang="en-US" sz="1100" b="1" dirty="0">
                <a:solidFill>
                  <a:srgbClr val="64748B"/>
                </a:solidFill>
              </a:rPr>
              <a:t>HuggingFace</a:t>
            </a:r>
            <a:r>
              <a:rPr lang="en-US" sz="1100" dirty="0">
                <a:solidFill>
                  <a:srgbClr val="64748B"/>
                </a:solidFill>
              </a:rPr>
              <a:t> for open-source models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BIS × Sigma Squad AI Hackathon  |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774</Words>
  <Application>Microsoft Office PowerPoint</Application>
  <PresentationFormat>On-screen Show (16:9)</PresentationFormat>
  <Paragraphs>179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 Standards Recommendation Engine</dc:title>
  <dc:subject>PptxGenJS Presentation</dc:subject>
  <dc:creator>PptxGenJS</dc:creator>
  <cp:lastModifiedBy>Akshatha K S</cp:lastModifiedBy>
  <cp:revision>1</cp:revision>
  <dcterms:created xsi:type="dcterms:W3CDTF">2026-05-03T07:52:18Z</dcterms:created>
  <dcterms:modified xsi:type="dcterms:W3CDTF">2026-05-03T07:55:57Z</dcterms:modified>
</cp:coreProperties>
</file>